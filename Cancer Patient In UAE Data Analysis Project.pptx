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Nunito"/>
      <p:regular r:id="rId17"/>
      <p:bold r:id="rId18"/>
      <p:italic r:id="rId19"/>
      <p:boldItalic r:id="rId20"/>
    </p:embeddedFont>
    <p:embeddedFont>
      <p:font typeface="Pacifico"/>
      <p:regular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bold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Pacifico-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italic.fntdata"/><Relationship Id="rId6" Type="http://schemas.openxmlformats.org/officeDocument/2006/relationships/slide" Target="slides/slide1.xml"/><Relationship Id="rId18" Type="http://schemas.openxmlformats.org/officeDocument/2006/relationships/font" Target="fonts/Nuni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53edd34d20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53edd34d20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53edd34d20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53edd34d20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53edd34d20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53edd34d20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53edd34d20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53edd34d20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53edd34d20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53edd34d20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53edd34d20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53edd34d20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53edd34d20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53edd34d20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53edd34d20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53edd34d20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53edd34d20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53edd34d20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53edd34d20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53edd34d20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3400">
        <p14:flip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451025" y="760200"/>
            <a:ext cx="8501100" cy="1448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GB" sz="4400">
                <a:solidFill>
                  <a:srgbClr val="000000"/>
                </a:solidFill>
                <a:latin typeface="Georgia"/>
                <a:ea typeface="Georgia"/>
                <a:cs typeface="Georgia"/>
                <a:sym typeface="Georgia"/>
              </a:rPr>
              <a:t>Cancer Patient In UAE Data Analysis Project</a:t>
            </a:r>
            <a:r>
              <a:rPr lang="en-GB" sz="4400">
                <a:solidFill>
                  <a:srgbClr val="000000"/>
                </a:solidFill>
                <a:latin typeface="Calibri"/>
                <a:ea typeface="Calibri"/>
                <a:cs typeface="Calibri"/>
                <a:sym typeface="Calibri"/>
              </a:rPr>
              <a:t> </a:t>
            </a:r>
            <a:endParaRPr/>
          </a:p>
        </p:txBody>
      </p:sp>
      <p:sp>
        <p:nvSpPr>
          <p:cNvPr id="129" name="Google Shape;129;p13"/>
          <p:cNvSpPr txBox="1"/>
          <p:nvPr>
            <p:ph idx="1" type="subTitle"/>
          </p:nvPr>
        </p:nvSpPr>
        <p:spPr>
          <a:xfrm>
            <a:off x="451025" y="2208300"/>
            <a:ext cx="8376600" cy="2659500"/>
          </a:xfrm>
          <a:prstGeom prst="rect">
            <a:avLst/>
          </a:prstGeom>
        </p:spPr>
        <p:txBody>
          <a:bodyPr anchorCtr="0" anchor="t" bIns="91425" lIns="91425" spcFirstLastPara="1" rIns="91425" wrap="square" tIns="91425">
            <a:normAutofit fontScale="55000" lnSpcReduction="10000"/>
          </a:bodyPr>
          <a:lstStyle/>
          <a:p>
            <a:pPr indent="0" lvl="0" marL="0" rtl="0" algn="l">
              <a:lnSpc>
                <a:spcPct val="115000"/>
              </a:lnSpc>
              <a:spcBef>
                <a:spcPts val="800"/>
              </a:spcBef>
              <a:spcAft>
                <a:spcPts val="0"/>
              </a:spcAft>
              <a:buNone/>
            </a:pPr>
            <a:r>
              <a:rPr b="1" lang="en-GB" sz="6238">
                <a:solidFill>
                  <a:srgbClr val="000000"/>
                </a:solidFill>
                <a:latin typeface="Arial"/>
                <a:ea typeface="Arial"/>
                <a:cs typeface="Arial"/>
                <a:sym typeface="Arial"/>
              </a:rPr>
              <a:t>•🔬 InternPulse Group 5 | 📅 May 2025</a:t>
            </a:r>
            <a:endParaRPr b="1" sz="6238">
              <a:solidFill>
                <a:srgbClr val="000000"/>
              </a:solidFill>
              <a:latin typeface="Arial"/>
              <a:ea typeface="Arial"/>
              <a:cs typeface="Arial"/>
              <a:sym typeface="Arial"/>
            </a:endParaRPr>
          </a:p>
          <a:p>
            <a:pPr indent="0" lvl="0" marL="0" rtl="0" algn="l">
              <a:lnSpc>
                <a:spcPct val="115000"/>
              </a:lnSpc>
              <a:spcBef>
                <a:spcPts val="800"/>
              </a:spcBef>
              <a:spcAft>
                <a:spcPts val="0"/>
              </a:spcAft>
              <a:buNone/>
            </a:pPr>
            <a:r>
              <a:rPr b="1" lang="en-GB" sz="5050">
                <a:solidFill>
                  <a:srgbClr val="D1D2D3"/>
                </a:solidFill>
                <a:highlight>
                  <a:srgbClr val="0000FF"/>
                </a:highlight>
                <a:latin typeface="Arial"/>
                <a:ea typeface="Arial"/>
                <a:cs typeface="Arial"/>
                <a:sym typeface="Arial"/>
              </a:rPr>
              <a:t>Ogochukwu Nneka Uchenwoke</a:t>
            </a:r>
            <a:endParaRPr b="1" sz="4800">
              <a:solidFill>
                <a:srgbClr val="D1D2D3"/>
              </a:solidFill>
              <a:highlight>
                <a:srgbClr val="0000FF"/>
              </a:highlight>
              <a:latin typeface="Arial"/>
              <a:ea typeface="Arial"/>
              <a:cs typeface="Arial"/>
              <a:sym typeface="Arial"/>
            </a:endParaRPr>
          </a:p>
          <a:p>
            <a:pPr indent="0" lvl="0" marL="0" rtl="0" algn="l">
              <a:lnSpc>
                <a:spcPct val="115000"/>
              </a:lnSpc>
              <a:spcBef>
                <a:spcPts val="800"/>
              </a:spcBef>
              <a:spcAft>
                <a:spcPts val="0"/>
              </a:spcAft>
              <a:buNone/>
            </a:pPr>
            <a:r>
              <a:rPr b="1" lang="en-GB" sz="5050">
                <a:solidFill>
                  <a:srgbClr val="D1D2D3"/>
                </a:solidFill>
                <a:highlight>
                  <a:srgbClr val="0000FF"/>
                </a:highlight>
                <a:latin typeface="Arial"/>
                <a:ea typeface="Arial"/>
                <a:cs typeface="Arial"/>
                <a:sym typeface="Arial"/>
              </a:rPr>
              <a:t>Seunfunmi Rachel Adegboyega</a:t>
            </a:r>
            <a:endParaRPr b="1" sz="5050">
              <a:solidFill>
                <a:srgbClr val="D1D2D3"/>
              </a:solidFill>
              <a:highlight>
                <a:srgbClr val="0000FF"/>
              </a:highlight>
              <a:latin typeface="Arial"/>
              <a:ea typeface="Arial"/>
              <a:cs typeface="Arial"/>
              <a:sym typeface="Arial"/>
            </a:endParaRPr>
          </a:p>
          <a:p>
            <a:pPr indent="0" lvl="0" marL="0" rtl="0" algn="l">
              <a:lnSpc>
                <a:spcPct val="115000"/>
              </a:lnSpc>
              <a:spcBef>
                <a:spcPts val="800"/>
              </a:spcBef>
              <a:spcAft>
                <a:spcPts val="0"/>
              </a:spcAft>
              <a:buNone/>
            </a:pPr>
            <a:r>
              <a:rPr b="1" lang="en-GB" sz="5504">
                <a:solidFill>
                  <a:srgbClr val="D1D2D3"/>
                </a:solidFill>
                <a:highlight>
                  <a:srgbClr val="0000FF"/>
                </a:highlight>
                <a:latin typeface="Arial"/>
                <a:ea typeface="Arial"/>
                <a:cs typeface="Arial"/>
                <a:sym typeface="Arial"/>
              </a:rPr>
              <a:t>Nse Stephen Anyameluhor</a:t>
            </a:r>
            <a:endParaRPr b="1" sz="5504">
              <a:solidFill>
                <a:srgbClr val="D1D2D3"/>
              </a:solidFill>
              <a:highlight>
                <a:srgbClr val="0000FF"/>
              </a:highlight>
              <a:latin typeface="Arial"/>
              <a:ea typeface="Arial"/>
              <a:cs typeface="Arial"/>
              <a:sym typeface="Arial"/>
            </a:endParaRPr>
          </a:p>
          <a:p>
            <a:pPr indent="0" lvl="0" marL="0" rtl="0" algn="ctr">
              <a:spcBef>
                <a:spcPts val="0"/>
              </a:spcBef>
              <a:spcAft>
                <a:spcPts val="0"/>
              </a:spcAft>
              <a:buNone/>
            </a:pPr>
            <a:r>
              <a:t/>
            </a:r>
            <a:endParaRPr sz="2600">
              <a:highlight>
                <a:srgbClr val="0000FF"/>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idx="1" type="subTitle"/>
          </p:nvPr>
        </p:nvSpPr>
        <p:spPr>
          <a:xfrm>
            <a:off x="394500" y="866625"/>
            <a:ext cx="4177500" cy="38172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en-GB" sz="4400">
                <a:solidFill>
                  <a:srgbClr val="000000"/>
                </a:solidFill>
                <a:latin typeface="Georgia"/>
                <a:ea typeface="Georgia"/>
                <a:cs typeface="Georgia"/>
                <a:sym typeface="Georgia"/>
              </a:rPr>
              <a:t>Project Objective</a:t>
            </a:r>
            <a:endParaRPr b="1" sz="320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3200">
                <a:solidFill>
                  <a:srgbClr val="000000"/>
                </a:solidFill>
                <a:latin typeface="Georgia"/>
                <a:ea typeface="Georgia"/>
                <a:cs typeface="Georgia"/>
                <a:sym typeface="Georgia"/>
              </a:rPr>
              <a:t>•- </a:t>
            </a:r>
            <a:r>
              <a:rPr lang="en-GB" sz="3000">
                <a:solidFill>
                  <a:srgbClr val="000000"/>
                </a:solidFill>
                <a:latin typeface="Georgia"/>
                <a:ea typeface="Georgia"/>
                <a:cs typeface="Georgia"/>
                <a:sym typeface="Georgia"/>
              </a:rPr>
              <a:t>Build ML models using UAE cancer patient data</a:t>
            </a:r>
            <a:endParaRPr sz="300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3000">
                <a:solidFill>
                  <a:srgbClr val="000000"/>
                </a:solidFill>
                <a:latin typeface="Georgia"/>
                <a:ea typeface="Georgia"/>
                <a:cs typeface="Georgia"/>
                <a:sym typeface="Georgia"/>
              </a:rPr>
              <a:t>•- Goals:</a:t>
            </a:r>
            <a:endParaRPr sz="300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3000">
                <a:solidFill>
                  <a:srgbClr val="000000"/>
                </a:solidFill>
                <a:latin typeface="Georgia"/>
                <a:ea typeface="Georgia"/>
                <a:cs typeface="Georgia"/>
                <a:sym typeface="Georgia"/>
              </a:rPr>
              <a:t>•  • Classify cancer stages</a:t>
            </a:r>
            <a:endParaRPr sz="300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3000">
                <a:solidFill>
                  <a:srgbClr val="000000"/>
                </a:solidFill>
                <a:latin typeface="Georgia"/>
                <a:ea typeface="Georgia"/>
                <a:cs typeface="Georgia"/>
                <a:sym typeface="Georgia"/>
              </a:rPr>
              <a:t>•  • Identify hidden clusters for treatment insights</a:t>
            </a:r>
            <a:endParaRPr sz="300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3000">
                <a:solidFill>
                  <a:srgbClr val="000000"/>
                </a:solidFill>
                <a:latin typeface="Georgia"/>
                <a:ea typeface="Georgia"/>
                <a:cs typeface="Georgia"/>
                <a:sym typeface="Georgia"/>
              </a:rPr>
              <a:t>•  • Support early diagnosis through data patterns</a:t>
            </a:r>
            <a:endParaRPr sz="3000">
              <a:solidFill>
                <a:srgbClr val="000000"/>
              </a:solidFill>
              <a:latin typeface="Georgia"/>
              <a:ea typeface="Georgia"/>
              <a:cs typeface="Georgia"/>
              <a:sym typeface="Georgia"/>
            </a:endParaRPr>
          </a:p>
          <a:p>
            <a:pPr indent="0" lvl="0" marL="0" rtl="0" algn="ctr">
              <a:spcBef>
                <a:spcPts val="0"/>
              </a:spcBef>
              <a:spcAft>
                <a:spcPts val="0"/>
              </a:spcAft>
              <a:buNone/>
            </a:pPr>
            <a:r>
              <a:t/>
            </a:r>
            <a:endParaRPr/>
          </a:p>
        </p:txBody>
      </p:sp>
      <p:sp>
        <p:nvSpPr>
          <p:cNvPr id="135" name="Google Shape;135;p14"/>
          <p:cNvSpPr txBox="1"/>
          <p:nvPr>
            <p:ph idx="1" type="subTitle"/>
          </p:nvPr>
        </p:nvSpPr>
        <p:spPr>
          <a:xfrm>
            <a:off x="4706925" y="866625"/>
            <a:ext cx="4177500" cy="38172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None/>
            </a:pPr>
            <a:r>
              <a:rPr b="1" lang="en-GB" sz="4400">
                <a:solidFill>
                  <a:srgbClr val="000000"/>
                </a:solidFill>
                <a:latin typeface="Georgia"/>
                <a:ea typeface="Georgia"/>
                <a:cs typeface="Georgia"/>
                <a:sym typeface="Georgia"/>
              </a:rPr>
              <a:t>Research Framework</a:t>
            </a:r>
            <a:endParaRPr b="1" sz="320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3745">
                <a:solidFill>
                  <a:srgbClr val="000000"/>
                </a:solidFill>
                <a:latin typeface="Georgia"/>
                <a:ea typeface="Georgia"/>
                <a:cs typeface="Georgia"/>
                <a:sym typeface="Georgia"/>
              </a:rPr>
              <a:t>•Three Key Pillars:</a:t>
            </a:r>
            <a:endParaRPr sz="3745">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3745">
                <a:solidFill>
                  <a:srgbClr val="000000"/>
                </a:solidFill>
                <a:latin typeface="Georgia"/>
                <a:ea typeface="Georgia"/>
                <a:cs typeface="Georgia"/>
                <a:sym typeface="Georgia"/>
              </a:rPr>
              <a:t>•1. EDA – Understand trends &amp; recovery rates</a:t>
            </a:r>
            <a:endParaRPr sz="3745">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3745">
                <a:solidFill>
                  <a:srgbClr val="000000"/>
                </a:solidFill>
                <a:latin typeface="Georgia"/>
                <a:ea typeface="Georgia"/>
                <a:cs typeface="Georgia"/>
                <a:sym typeface="Georgia"/>
              </a:rPr>
              <a:t>•2. Predictive Modeling – Classify cancer stages</a:t>
            </a:r>
            <a:endParaRPr sz="3745">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3745">
                <a:solidFill>
                  <a:srgbClr val="000000"/>
                </a:solidFill>
                <a:latin typeface="Georgia"/>
                <a:ea typeface="Georgia"/>
                <a:cs typeface="Georgia"/>
                <a:sym typeface="Georgia"/>
              </a:rPr>
              <a:t>•3. Clustering Analysis – Discover patient subgroups</a:t>
            </a:r>
            <a:endParaRPr sz="3745">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t/>
            </a:r>
            <a:endParaRPr b="1" sz="300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t/>
            </a:r>
            <a:endParaRPr sz="3200">
              <a:solidFill>
                <a:srgbClr val="000000"/>
              </a:solidFill>
              <a:latin typeface="Arial"/>
              <a:ea typeface="Arial"/>
              <a:cs typeface="Arial"/>
              <a:sym typeface="Arial"/>
            </a:endParaRPr>
          </a:p>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idx="1" type="subTitle"/>
          </p:nvPr>
        </p:nvSpPr>
        <p:spPr>
          <a:xfrm>
            <a:off x="2248450" y="180900"/>
            <a:ext cx="5165700" cy="7029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None/>
            </a:pPr>
            <a:r>
              <a:rPr lang="en-GB" sz="8800">
                <a:solidFill>
                  <a:srgbClr val="000000"/>
                </a:solidFill>
                <a:latin typeface="Georgia"/>
                <a:ea typeface="Georgia"/>
                <a:cs typeface="Georgia"/>
                <a:sym typeface="Georgia"/>
              </a:rPr>
              <a:t>Exploratory Data Analysis (EDA)</a:t>
            </a:r>
            <a:endParaRPr sz="880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6438">
                <a:solidFill>
                  <a:srgbClr val="000000"/>
                </a:solidFill>
                <a:latin typeface="Georgia"/>
                <a:ea typeface="Georgia"/>
                <a:cs typeface="Georgia"/>
                <a:sym typeface="Georgia"/>
              </a:rPr>
              <a:t>              </a:t>
            </a:r>
            <a:r>
              <a:rPr lang="en-GB" sz="6438">
                <a:solidFill>
                  <a:srgbClr val="000000"/>
                </a:solidFill>
                <a:latin typeface="Georgia"/>
                <a:ea typeface="Georgia"/>
                <a:cs typeface="Georgia"/>
                <a:sym typeface="Georgia"/>
              </a:rPr>
              <a:t>Recovery rate trends over multiple years</a:t>
            </a:r>
            <a:endParaRPr sz="7638">
              <a:solidFill>
                <a:srgbClr val="000000"/>
              </a:solidFill>
              <a:latin typeface="Georgia"/>
              <a:ea typeface="Georgia"/>
              <a:cs typeface="Georgia"/>
              <a:sym typeface="Georgia"/>
            </a:endParaRPr>
          </a:p>
        </p:txBody>
      </p:sp>
      <p:pic>
        <p:nvPicPr>
          <p:cNvPr id="141" name="Google Shape;141;p15"/>
          <p:cNvPicPr preferRelativeResize="0"/>
          <p:nvPr/>
        </p:nvPicPr>
        <p:blipFill>
          <a:blip r:embed="rId3">
            <a:alphaModFix/>
          </a:blip>
          <a:stretch>
            <a:fillRect/>
          </a:stretch>
        </p:blipFill>
        <p:spPr>
          <a:xfrm>
            <a:off x="315375" y="883800"/>
            <a:ext cx="8625275" cy="4113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idx="1" type="subTitle"/>
          </p:nvPr>
        </p:nvSpPr>
        <p:spPr>
          <a:xfrm>
            <a:off x="2508425" y="226100"/>
            <a:ext cx="4793100" cy="702900"/>
          </a:xfrm>
          <a:prstGeom prst="rect">
            <a:avLst/>
          </a:prstGeom>
        </p:spPr>
        <p:txBody>
          <a:bodyPr anchorCtr="0" anchor="t" bIns="91425" lIns="91425" spcFirstLastPara="1" rIns="91425" wrap="square" tIns="91425">
            <a:normAutofit fontScale="32500" lnSpcReduction="10000"/>
          </a:bodyPr>
          <a:lstStyle/>
          <a:p>
            <a:pPr indent="0" lvl="0" marL="0" rtl="0" algn="ctr">
              <a:spcBef>
                <a:spcPts val="0"/>
              </a:spcBef>
              <a:spcAft>
                <a:spcPts val="0"/>
              </a:spcAft>
              <a:buNone/>
            </a:pPr>
            <a:r>
              <a:rPr b="1" lang="en-GB" sz="4400">
                <a:solidFill>
                  <a:srgbClr val="000000"/>
                </a:solidFill>
                <a:latin typeface="Georgia"/>
                <a:ea typeface="Georgia"/>
                <a:cs typeface="Georgia"/>
                <a:sym typeface="Georgia"/>
              </a:rPr>
              <a:t>Exploratory Data Analysis (EDA)</a:t>
            </a:r>
            <a:endParaRPr b="1" sz="440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3200">
                <a:solidFill>
                  <a:srgbClr val="000000"/>
                </a:solidFill>
              </a:rPr>
              <a:t>                          </a:t>
            </a:r>
            <a:r>
              <a:rPr b="1" lang="en-GB" sz="4315">
                <a:solidFill>
                  <a:srgbClr val="000000"/>
                </a:solidFill>
                <a:latin typeface="Georgia"/>
                <a:ea typeface="Georgia"/>
                <a:cs typeface="Georgia"/>
                <a:sym typeface="Georgia"/>
              </a:rPr>
              <a:t>     </a:t>
            </a:r>
            <a:r>
              <a:rPr b="1" lang="en-GB" sz="4315">
                <a:solidFill>
                  <a:srgbClr val="000000"/>
                </a:solidFill>
                <a:latin typeface="Georgia"/>
                <a:ea typeface="Georgia"/>
                <a:cs typeface="Georgia"/>
                <a:sym typeface="Georgia"/>
              </a:rPr>
              <a:t>Smoking impact on outcomes</a:t>
            </a:r>
            <a:endParaRPr b="1" sz="5515">
              <a:solidFill>
                <a:srgbClr val="000000"/>
              </a:solidFill>
              <a:latin typeface="Georgia"/>
              <a:ea typeface="Georgia"/>
              <a:cs typeface="Georgia"/>
              <a:sym typeface="Georgia"/>
            </a:endParaRPr>
          </a:p>
        </p:txBody>
      </p:sp>
      <p:pic>
        <p:nvPicPr>
          <p:cNvPr id="147" name="Google Shape;147;p16"/>
          <p:cNvPicPr preferRelativeResize="0"/>
          <p:nvPr/>
        </p:nvPicPr>
        <p:blipFill>
          <a:blip r:embed="rId3">
            <a:alphaModFix/>
          </a:blip>
          <a:stretch>
            <a:fillRect/>
          </a:stretch>
        </p:blipFill>
        <p:spPr>
          <a:xfrm>
            <a:off x="224950" y="929000"/>
            <a:ext cx="8727000" cy="3762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idx="1" type="subTitle"/>
          </p:nvPr>
        </p:nvSpPr>
        <p:spPr>
          <a:xfrm>
            <a:off x="2632775" y="226100"/>
            <a:ext cx="4476600" cy="7029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None/>
            </a:pPr>
            <a:r>
              <a:rPr lang="en-GB" sz="4400">
                <a:solidFill>
                  <a:srgbClr val="000000"/>
                </a:solidFill>
              </a:rPr>
              <a:t>Exploratory Data Analysis (EDA)</a:t>
            </a:r>
            <a:endParaRPr sz="3200">
              <a:solidFill>
                <a:srgbClr val="000000"/>
              </a:solidFill>
              <a:latin typeface="Arial"/>
              <a:ea typeface="Arial"/>
              <a:cs typeface="Arial"/>
              <a:sym typeface="Arial"/>
            </a:endParaRPr>
          </a:p>
          <a:p>
            <a:pPr indent="0" lvl="0" marL="0" rtl="0" algn="ctr">
              <a:spcBef>
                <a:spcPts val="0"/>
              </a:spcBef>
              <a:spcAft>
                <a:spcPts val="0"/>
              </a:spcAft>
              <a:buNone/>
            </a:pPr>
            <a:r>
              <a:rPr lang="en-GB" sz="3200">
                <a:solidFill>
                  <a:srgbClr val="000000"/>
                </a:solidFill>
                <a:latin typeface="Georgia"/>
                <a:ea typeface="Georgia"/>
                <a:cs typeface="Georgia"/>
                <a:sym typeface="Georgia"/>
              </a:rPr>
              <a:t>Most common cancer types (Top 5)</a:t>
            </a:r>
            <a:endParaRPr>
              <a:latin typeface="Georgia"/>
              <a:ea typeface="Georgia"/>
              <a:cs typeface="Georgia"/>
              <a:sym typeface="Georgia"/>
            </a:endParaRPr>
          </a:p>
        </p:txBody>
      </p:sp>
      <p:pic>
        <p:nvPicPr>
          <p:cNvPr id="153" name="Google Shape;153;p17"/>
          <p:cNvPicPr preferRelativeResize="0"/>
          <p:nvPr/>
        </p:nvPicPr>
        <p:blipFill>
          <a:blip r:embed="rId3">
            <a:alphaModFix/>
          </a:blip>
          <a:stretch>
            <a:fillRect/>
          </a:stretch>
        </p:blipFill>
        <p:spPr>
          <a:xfrm>
            <a:off x="202850" y="1028700"/>
            <a:ext cx="8738301" cy="4031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idx="1" type="subTitle"/>
          </p:nvPr>
        </p:nvSpPr>
        <p:spPr>
          <a:xfrm>
            <a:off x="2338850" y="180875"/>
            <a:ext cx="4940100" cy="7029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None/>
            </a:pPr>
            <a:r>
              <a:rPr b="1" lang="en-GB" sz="7600">
                <a:solidFill>
                  <a:srgbClr val="000000"/>
                </a:solidFill>
                <a:latin typeface="Georgia"/>
                <a:ea typeface="Georgia"/>
                <a:cs typeface="Georgia"/>
                <a:sym typeface="Georgia"/>
              </a:rPr>
              <a:t>Exploratory Data Analysis (EDA)</a:t>
            </a:r>
            <a:endParaRPr b="1" sz="760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7238">
                <a:solidFill>
                  <a:srgbClr val="000000"/>
                </a:solidFill>
                <a:latin typeface="Georgia"/>
                <a:ea typeface="Georgia"/>
                <a:cs typeface="Georgia"/>
                <a:sym typeface="Georgia"/>
              </a:rPr>
              <a:t>         </a:t>
            </a:r>
            <a:r>
              <a:rPr lang="en-GB" sz="7638">
                <a:solidFill>
                  <a:srgbClr val="000000"/>
                </a:solidFill>
                <a:latin typeface="Georgia"/>
                <a:ea typeface="Georgia"/>
                <a:cs typeface="Georgia"/>
                <a:sym typeface="Georgia"/>
              </a:rPr>
              <a:t>Recovery patterns by cancer type</a:t>
            </a:r>
            <a:endParaRPr sz="8838">
              <a:solidFill>
                <a:srgbClr val="000000"/>
              </a:solidFill>
              <a:latin typeface="Georgia"/>
              <a:ea typeface="Georgia"/>
              <a:cs typeface="Georgia"/>
              <a:sym typeface="Georgia"/>
            </a:endParaRPr>
          </a:p>
        </p:txBody>
      </p:sp>
      <p:pic>
        <p:nvPicPr>
          <p:cNvPr id="159" name="Google Shape;159;p18"/>
          <p:cNvPicPr preferRelativeResize="0"/>
          <p:nvPr/>
        </p:nvPicPr>
        <p:blipFill>
          <a:blip r:embed="rId3">
            <a:alphaModFix/>
          </a:blip>
          <a:stretch>
            <a:fillRect/>
          </a:stretch>
        </p:blipFill>
        <p:spPr>
          <a:xfrm>
            <a:off x="152400" y="1046825"/>
            <a:ext cx="8788249" cy="3944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idx="1" type="subTitle"/>
          </p:nvPr>
        </p:nvSpPr>
        <p:spPr>
          <a:xfrm>
            <a:off x="366750" y="555675"/>
            <a:ext cx="3984300" cy="41703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None/>
            </a:pPr>
            <a:r>
              <a:t/>
            </a:r>
            <a:endParaRPr sz="4400">
              <a:solidFill>
                <a:srgbClr val="000000"/>
              </a:solidFill>
            </a:endParaRPr>
          </a:p>
          <a:p>
            <a:pPr indent="0" lvl="0" marL="0" rtl="0" algn="ctr">
              <a:spcBef>
                <a:spcPts val="0"/>
              </a:spcBef>
              <a:spcAft>
                <a:spcPts val="0"/>
              </a:spcAft>
              <a:buNone/>
            </a:pPr>
            <a:r>
              <a:t/>
            </a:r>
            <a:endParaRPr b="1" sz="8800">
              <a:solidFill>
                <a:srgbClr val="000000"/>
              </a:solidFill>
              <a:latin typeface="Georgia"/>
              <a:ea typeface="Georgia"/>
              <a:cs typeface="Georgia"/>
              <a:sym typeface="Georgia"/>
            </a:endParaRPr>
          </a:p>
          <a:p>
            <a:pPr indent="0" lvl="0" marL="0" rtl="0" algn="ctr">
              <a:spcBef>
                <a:spcPts val="0"/>
              </a:spcBef>
              <a:spcAft>
                <a:spcPts val="0"/>
              </a:spcAft>
              <a:buNone/>
            </a:pPr>
            <a:r>
              <a:rPr b="1" lang="en-GB" sz="8800">
                <a:solidFill>
                  <a:srgbClr val="000000"/>
                </a:solidFill>
                <a:latin typeface="Georgia"/>
                <a:ea typeface="Georgia"/>
                <a:cs typeface="Georgia"/>
                <a:sym typeface="Georgia"/>
              </a:rPr>
              <a:t>Predictive Modeling Setup</a:t>
            </a:r>
            <a:endParaRPr b="1" sz="11423">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6223">
                <a:solidFill>
                  <a:srgbClr val="000000"/>
                </a:solidFill>
                <a:latin typeface="Georgia"/>
                <a:ea typeface="Georgia"/>
                <a:cs typeface="Georgia"/>
                <a:sym typeface="Georgia"/>
              </a:rPr>
              <a:t>•Target Variable: Cancer Stage (I–IV)</a:t>
            </a:r>
            <a:endParaRPr sz="6223">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6223">
                <a:solidFill>
                  <a:srgbClr val="000000"/>
                </a:solidFill>
                <a:latin typeface="Georgia"/>
                <a:ea typeface="Georgia"/>
                <a:cs typeface="Georgia"/>
                <a:sym typeface="Georgia"/>
              </a:rPr>
              <a:t>•Features Used:</a:t>
            </a:r>
            <a:endParaRPr sz="6223">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6223">
                <a:solidFill>
                  <a:srgbClr val="000000"/>
                </a:solidFill>
                <a:latin typeface="Georgia"/>
                <a:ea typeface="Georgia"/>
                <a:cs typeface="Georgia"/>
                <a:sym typeface="Georgia"/>
              </a:rPr>
              <a:t>•- Demographics: Age, Gender, Nationality, Ethnicity</a:t>
            </a:r>
            <a:endParaRPr sz="6223">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6223">
                <a:solidFill>
                  <a:srgbClr val="000000"/>
                </a:solidFill>
                <a:latin typeface="Georgia"/>
                <a:ea typeface="Georgia"/>
                <a:cs typeface="Georgia"/>
                <a:sym typeface="Georgia"/>
              </a:rPr>
              <a:t>•- Lifestyle: Smoking</a:t>
            </a:r>
            <a:endParaRPr sz="6223">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6223">
                <a:solidFill>
                  <a:srgbClr val="000000"/>
                </a:solidFill>
                <a:latin typeface="Georgia"/>
                <a:ea typeface="Georgia"/>
                <a:cs typeface="Georgia"/>
                <a:sym typeface="Georgia"/>
              </a:rPr>
              <a:t>•- Medical: Type, Weight, Height</a:t>
            </a:r>
            <a:endParaRPr sz="6223">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6223">
                <a:solidFill>
                  <a:srgbClr val="000000"/>
                </a:solidFill>
                <a:latin typeface="Georgia"/>
                <a:ea typeface="Georgia"/>
                <a:cs typeface="Georgia"/>
                <a:sym typeface="Georgia"/>
              </a:rPr>
              <a:t>•Approach:</a:t>
            </a:r>
            <a:endParaRPr sz="6223">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6223">
                <a:solidFill>
                  <a:srgbClr val="000000"/>
                </a:solidFill>
                <a:latin typeface="Georgia"/>
                <a:ea typeface="Georgia"/>
                <a:cs typeface="Georgia"/>
                <a:sym typeface="Georgia"/>
              </a:rPr>
              <a:t>•- Baseline: Random Forest</a:t>
            </a:r>
            <a:endParaRPr sz="6223">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6223">
                <a:solidFill>
                  <a:srgbClr val="000000"/>
                </a:solidFill>
                <a:latin typeface="Georgia"/>
                <a:ea typeface="Georgia"/>
                <a:cs typeface="Georgia"/>
                <a:sym typeface="Georgia"/>
              </a:rPr>
              <a:t>•- Improved: XGBoost</a:t>
            </a:r>
            <a:endParaRPr sz="6223">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6223">
                <a:solidFill>
                  <a:srgbClr val="000000"/>
                </a:solidFill>
                <a:latin typeface="Georgia"/>
                <a:ea typeface="Georgia"/>
                <a:cs typeface="Georgia"/>
                <a:sym typeface="Georgia"/>
              </a:rPr>
              <a:t>•- Handled imbalance: SMOTE</a:t>
            </a:r>
            <a:endParaRPr sz="6223">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t/>
            </a:r>
            <a:endParaRPr sz="3200">
              <a:solidFill>
                <a:srgbClr val="000000"/>
              </a:solidFill>
              <a:latin typeface="Arial"/>
              <a:ea typeface="Arial"/>
              <a:cs typeface="Arial"/>
              <a:sym typeface="Arial"/>
            </a:endParaRPr>
          </a:p>
          <a:p>
            <a:pPr indent="0" lvl="0" marL="0" rtl="0" algn="l">
              <a:lnSpc>
                <a:spcPct val="115000"/>
              </a:lnSpc>
              <a:spcBef>
                <a:spcPts val="800"/>
              </a:spcBef>
              <a:spcAft>
                <a:spcPts val="0"/>
              </a:spcAft>
              <a:buNone/>
            </a:pPr>
            <a:r>
              <a:t/>
            </a:r>
            <a:endParaRPr sz="3200">
              <a:solidFill>
                <a:srgbClr val="000000"/>
              </a:solidFill>
              <a:latin typeface="Arial"/>
              <a:ea typeface="Arial"/>
              <a:cs typeface="Arial"/>
              <a:sym typeface="Arial"/>
            </a:endParaRPr>
          </a:p>
          <a:p>
            <a:pPr indent="0" lvl="0" marL="0" rtl="0" algn="ctr">
              <a:spcBef>
                <a:spcPts val="0"/>
              </a:spcBef>
              <a:spcAft>
                <a:spcPts val="0"/>
              </a:spcAft>
              <a:buNone/>
            </a:pPr>
            <a:r>
              <a:t/>
            </a:r>
            <a:endParaRPr/>
          </a:p>
        </p:txBody>
      </p:sp>
      <p:sp>
        <p:nvSpPr>
          <p:cNvPr id="165" name="Google Shape;165;p19"/>
          <p:cNvSpPr txBox="1"/>
          <p:nvPr>
            <p:ph idx="1" type="subTitle"/>
          </p:nvPr>
        </p:nvSpPr>
        <p:spPr>
          <a:xfrm>
            <a:off x="4860050" y="555675"/>
            <a:ext cx="3984300" cy="4476000"/>
          </a:xfrm>
          <a:prstGeom prst="rect">
            <a:avLst/>
          </a:prstGeom>
        </p:spPr>
        <p:txBody>
          <a:bodyPr anchorCtr="0" anchor="t" bIns="91425" lIns="91425" spcFirstLastPara="1" rIns="91425" wrap="square" tIns="91425">
            <a:normAutofit fontScale="55000" lnSpcReduction="10000"/>
          </a:bodyPr>
          <a:lstStyle/>
          <a:p>
            <a:pPr indent="0" lvl="0" marL="0" rtl="0" algn="ctr">
              <a:spcBef>
                <a:spcPts val="0"/>
              </a:spcBef>
              <a:spcAft>
                <a:spcPts val="0"/>
              </a:spcAft>
              <a:buNone/>
            </a:pPr>
            <a:r>
              <a:t/>
            </a:r>
            <a:endParaRPr b="1" sz="4400">
              <a:solidFill>
                <a:srgbClr val="000000"/>
              </a:solidFill>
              <a:latin typeface="Georgia"/>
              <a:ea typeface="Georgia"/>
              <a:cs typeface="Georgia"/>
              <a:sym typeface="Georgia"/>
            </a:endParaRPr>
          </a:p>
          <a:p>
            <a:pPr indent="0" lvl="0" marL="0" rtl="0" algn="l">
              <a:spcBef>
                <a:spcPts val="0"/>
              </a:spcBef>
              <a:spcAft>
                <a:spcPts val="0"/>
              </a:spcAft>
              <a:buNone/>
            </a:pPr>
            <a:r>
              <a:rPr b="1" lang="en-GB" sz="4400">
                <a:solidFill>
                  <a:srgbClr val="000000"/>
                </a:solidFill>
                <a:latin typeface="Georgia"/>
                <a:ea typeface="Georgia"/>
                <a:cs typeface="Georgia"/>
                <a:sym typeface="Georgia"/>
              </a:rPr>
              <a:t>Model Performance</a:t>
            </a:r>
            <a:endParaRPr b="1" sz="11423">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3200">
                <a:solidFill>
                  <a:srgbClr val="000000"/>
                </a:solidFill>
                <a:latin typeface="Arial"/>
                <a:ea typeface="Arial"/>
                <a:cs typeface="Arial"/>
                <a:sym typeface="Arial"/>
              </a:rPr>
              <a:t>•</a:t>
            </a:r>
            <a:r>
              <a:rPr lang="en-GB" sz="3200">
                <a:solidFill>
                  <a:srgbClr val="000000"/>
                </a:solidFill>
              </a:rPr>
              <a:t>Model Performance Summary:</a:t>
            </a:r>
            <a:endParaRPr sz="3200">
              <a:solidFill>
                <a:srgbClr val="000000"/>
              </a:solidFill>
            </a:endParaRPr>
          </a:p>
          <a:p>
            <a:pPr indent="0" lvl="0" marL="0" rtl="0" algn="l">
              <a:lnSpc>
                <a:spcPct val="115000"/>
              </a:lnSpc>
              <a:spcBef>
                <a:spcPts val="800"/>
              </a:spcBef>
              <a:spcAft>
                <a:spcPts val="0"/>
              </a:spcAft>
              <a:buNone/>
            </a:pPr>
            <a:r>
              <a:rPr lang="en-GB" sz="3200">
                <a:solidFill>
                  <a:srgbClr val="000000"/>
                </a:solidFill>
                <a:latin typeface="Arial"/>
                <a:ea typeface="Arial"/>
                <a:cs typeface="Arial"/>
                <a:sym typeface="Arial"/>
              </a:rPr>
              <a:t>•</a:t>
            </a:r>
            <a:r>
              <a:rPr lang="en-GB" sz="3200">
                <a:solidFill>
                  <a:srgbClr val="000000"/>
                </a:solidFill>
              </a:rPr>
              <a:t>- Random Forest: 32% Accuracy, 7% Stage IV Recall (Best balance)</a:t>
            </a:r>
            <a:endParaRPr sz="3200">
              <a:solidFill>
                <a:srgbClr val="000000"/>
              </a:solidFill>
            </a:endParaRPr>
          </a:p>
          <a:p>
            <a:pPr indent="0" lvl="0" marL="0" rtl="0" algn="l">
              <a:lnSpc>
                <a:spcPct val="115000"/>
              </a:lnSpc>
              <a:spcBef>
                <a:spcPts val="800"/>
              </a:spcBef>
              <a:spcAft>
                <a:spcPts val="0"/>
              </a:spcAft>
              <a:buNone/>
            </a:pPr>
            <a:r>
              <a:rPr lang="en-GB" sz="3200">
                <a:solidFill>
                  <a:srgbClr val="000000"/>
                </a:solidFill>
                <a:latin typeface="Arial"/>
                <a:ea typeface="Arial"/>
                <a:cs typeface="Arial"/>
                <a:sym typeface="Arial"/>
              </a:rPr>
              <a:t>•</a:t>
            </a:r>
            <a:r>
              <a:rPr lang="en-GB" sz="3200">
                <a:solidFill>
                  <a:srgbClr val="000000"/>
                </a:solidFill>
              </a:rPr>
              <a:t>- XGBoost: 28% Accuracy, 6% Stage IV Recall</a:t>
            </a:r>
            <a:endParaRPr sz="3200">
              <a:solidFill>
                <a:srgbClr val="000000"/>
              </a:solidFill>
            </a:endParaRPr>
          </a:p>
          <a:p>
            <a:pPr indent="0" lvl="0" marL="0" rtl="0" algn="l">
              <a:lnSpc>
                <a:spcPct val="115000"/>
              </a:lnSpc>
              <a:spcBef>
                <a:spcPts val="800"/>
              </a:spcBef>
              <a:spcAft>
                <a:spcPts val="0"/>
              </a:spcAft>
              <a:buNone/>
            </a:pPr>
            <a:r>
              <a:rPr lang="en-GB" sz="3200">
                <a:solidFill>
                  <a:srgbClr val="000000"/>
                </a:solidFill>
                <a:latin typeface="Arial"/>
                <a:ea typeface="Arial"/>
                <a:cs typeface="Arial"/>
                <a:sym typeface="Arial"/>
              </a:rPr>
              <a:t>•</a:t>
            </a:r>
            <a:r>
              <a:rPr lang="en-GB" sz="3200">
                <a:solidFill>
                  <a:srgbClr val="000000"/>
                </a:solidFill>
              </a:rPr>
              <a:t>- XGBoost + SMOTE: 26% Accuracy, 8% Stage IV Recall</a:t>
            </a:r>
            <a:endParaRPr sz="3200">
              <a:solidFill>
                <a:srgbClr val="000000"/>
              </a:solidFill>
            </a:endParaRPr>
          </a:p>
          <a:p>
            <a:pPr indent="0" lvl="0" marL="0" rtl="0" algn="l">
              <a:lnSpc>
                <a:spcPct val="115000"/>
              </a:lnSpc>
              <a:spcBef>
                <a:spcPts val="800"/>
              </a:spcBef>
              <a:spcAft>
                <a:spcPts val="0"/>
              </a:spcAft>
              <a:buNone/>
            </a:pPr>
            <a:r>
              <a:t/>
            </a:r>
            <a:endParaRPr sz="3200">
              <a:solidFill>
                <a:srgbClr val="000000"/>
              </a:solidFill>
              <a:latin typeface="Arial"/>
              <a:ea typeface="Arial"/>
              <a:cs typeface="Arial"/>
              <a:sym typeface="Arial"/>
            </a:endParaRPr>
          </a:p>
          <a:p>
            <a:pPr indent="0" lvl="0" marL="0" rtl="0" algn="l">
              <a:lnSpc>
                <a:spcPct val="115000"/>
              </a:lnSpc>
              <a:spcBef>
                <a:spcPts val="800"/>
              </a:spcBef>
              <a:spcAft>
                <a:spcPts val="0"/>
              </a:spcAft>
              <a:buNone/>
            </a:pPr>
            <a:r>
              <a:t/>
            </a:r>
            <a:endParaRPr sz="7023">
              <a:solidFill>
                <a:srgbClr val="000000"/>
              </a:solidFill>
              <a:latin typeface="Georgia"/>
              <a:ea typeface="Georgia"/>
              <a:cs typeface="Georgia"/>
              <a:sym typeface="Georgia"/>
            </a:endParaRPr>
          </a:p>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idx="1" type="subTitle"/>
          </p:nvPr>
        </p:nvSpPr>
        <p:spPr>
          <a:xfrm>
            <a:off x="586500" y="527500"/>
            <a:ext cx="3985500" cy="43743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440"/>
              <a:buNone/>
            </a:pPr>
            <a:r>
              <a:t/>
            </a:r>
            <a:endParaRPr sz="1860">
              <a:solidFill>
                <a:srgbClr val="000000"/>
              </a:solidFill>
              <a:latin typeface="Georgia"/>
              <a:ea typeface="Georgia"/>
              <a:cs typeface="Georgia"/>
              <a:sym typeface="Georgia"/>
            </a:endParaRPr>
          </a:p>
          <a:p>
            <a:pPr indent="0" lvl="0" marL="0" rtl="0" algn="l">
              <a:lnSpc>
                <a:spcPct val="80000"/>
              </a:lnSpc>
              <a:spcBef>
                <a:spcPts val="0"/>
              </a:spcBef>
              <a:spcAft>
                <a:spcPts val="0"/>
              </a:spcAft>
              <a:buSzPts val="440"/>
              <a:buNone/>
            </a:pPr>
            <a:r>
              <a:t/>
            </a:r>
            <a:endParaRPr sz="1860">
              <a:solidFill>
                <a:srgbClr val="000000"/>
              </a:solidFill>
              <a:latin typeface="Georgia"/>
              <a:ea typeface="Georgia"/>
              <a:cs typeface="Georgia"/>
              <a:sym typeface="Georgia"/>
            </a:endParaRPr>
          </a:p>
          <a:p>
            <a:pPr indent="0" lvl="0" marL="0" rtl="0" algn="l">
              <a:lnSpc>
                <a:spcPct val="80000"/>
              </a:lnSpc>
              <a:spcBef>
                <a:spcPts val="0"/>
              </a:spcBef>
              <a:spcAft>
                <a:spcPts val="0"/>
              </a:spcAft>
              <a:buSzPts val="440"/>
              <a:buNone/>
            </a:pPr>
            <a:r>
              <a:rPr b="1" lang="en-GB" sz="2060">
                <a:solidFill>
                  <a:srgbClr val="000000"/>
                </a:solidFill>
                <a:latin typeface="Georgia"/>
                <a:ea typeface="Georgia"/>
                <a:cs typeface="Georgia"/>
                <a:sym typeface="Georgia"/>
              </a:rPr>
              <a:t>Clustering Analysis</a:t>
            </a:r>
            <a:endParaRPr b="1" sz="2016">
              <a:solidFill>
                <a:srgbClr val="000000"/>
              </a:solidFill>
              <a:latin typeface="Georgia"/>
              <a:ea typeface="Georgia"/>
              <a:cs typeface="Georgia"/>
              <a:sym typeface="Georgia"/>
            </a:endParaRPr>
          </a:p>
          <a:p>
            <a:pPr indent="0" lvl="0" marL="0" rtl="0" algn="l">
              <a:lnSpc>
                <a:spcPct val="95000"/>
              </a:lnSpc>
              <a:spcBef>
                <a:spcPts val="800"/>
              </a:spcBef>
              <a:spcAft>
                <a:spcPts val="0"/>
              </a:spcAft>
              <a:buSzPts val="440"/>
              <a:buNone/>
            </a:pPr>
            <a:r>
              <a:rPr lang="en-GB" sz="1816">
                <a:solidFill>
                  <a:srgbClr val="000000"/>
                </a:solidFill>
                <a:latin typeface="Georgia"/>
                <a:ea typeface="Georgia"/>
                <a:cs typeface="Georgia"/>
                <a:sym typeface="Georgia"/>
              </a:rPr>
              <a:t>•</a:t>
            </a:r>
            <a:r>
              <a:rPr lang="en-GB" sz="1816">
                <a:solidFill>
                  <a:srgbClr val="000000"/>
                </a:solidFill>
                <a:latin typeface="Georgia"/>
                <a:ea typeface="Georgia"/>
                <a:cs typeface="Georgia"/>
                <a:sym typeface="Georgia"/>
              </a:rPr>
              <a:t>Goal: Find patient subgroups without labels</a:t>
            </a:r>
            <a:endParaRPr sz="1816">
              <a:solidFill>
                <a:srgbClr val="000000"/>
              </a:solidFill>
              <a:latin typeface="Georgia"/>
              <a:ea typeface="Georgia"/>
              <a:cs typeface="Georgia"/>
              <a:sym typeface="Georgia"/>
            </a:endParaRPr>
          </a:p>
          <a:p>
            <a:pPr indent="0" lvl="0" marL="0" rtl="0" algn="l">
              <a:lnSpc>
                <a:spcPct val="95000"/>
              </a:lnSpc>
              <a:spcBef>
                <a:spcPts val="800"/>
              </a:spcBef>
              <a:spcAft>
                <a:spcPts val="0"/>
              </a:spcAft>
              <a:buSzPts val="440"/>
              <a:buNone/>
            </a:pPr>
            <a:r>
              <a:rPr lang="en-GB" sz="1816">
                <a:solidFill>
                  <a:srgbClr val="000000"/>
                </a:solidFill>
                <a:latin typeface="Georgia"/>
                <a:ea typeface="Georgia"/>
                <a:cs typeface="Georgia"/>
                <a:sym typeface="Georgia"/>
              </a:rPr>
              <a:t>•Method:</a:t>
            </a:r>
            <a:endParaRPr sz="1816">
              <a:solidFill>
                <a:srgbClr val="000000"/>
              </a:solidFill>
              <a:latin typeface="Georgia"/>
              <a:ea typeface="Georgia"/>
              <a:cs typeface="Georgia"/>
              <a:sym typeface="Georgia"/>
            </a:endParaRPr>
          </a:p>
          <a:p>
            <a:pPr indent="0" lvl="0" marL="0" rtl="0" algn="l">
              <a:lnSpc>
                <a:spcPct val="95000"/>
              </a:lnSpc>
              <a:spcBef>
                <a:spcPts val="800"/>
              </a:spcBef>
              <a:spcAft>
                <a:spcPts val="0"/>
              </a:spcAft>
              <a:buSzPts val="440"/>
              <a:buNone/>
            </a:pPr>
            <a:r>
              <a:rPr lang="en-GB" sz="1816">
                <a:solidFill>
                  <a:srgbClr val="000000"/>
                </a:solidFill>
                <a:latin typeface="Georgia"/>
                <a:ea typeface="Georgia"/>
                <a:cs typeface="Georgia"/>
                <a:sym typeface="Georgia"/>
              </a:rPr>
              <a:t>•- KMeans (4 clusters)</a:t>
            </a:r>
            <a:endParaRPr sz="1816">
              <a:solidFill>
                <a:srgbClr val="000000"/>
              </a:solidFill>
              <a:latin typeface="Georgia"/>
              <a:ea typeface="Georgia"/>
              <a:cs typeface="Georgia"/>
              <a:sym typeface="Georgia"/>
            </a:endParaRPr>
          </a:p>
          <a:p>
            <a:pPr indent="0" lvl="0" marL="0" rtl="0" algn="l">
              <a:lnSpc>
                <a:spcPct val="95000"/>
              </a:lnSpc>
              <a:spcBef>
                <a:spcPts val="800"/>
              </a:spcBef>
              <a:spcAft>
                <a:spcPts val="0"/>
              </a:spcAft>
              <a:buSzPts val="440"/>
              <a:buNone/>
            </a:pPr>
            <a:r>
              <a:rPr lang="en-GB" sz="1816">
                <a:solidFill>
                  <a:srgbClr val="000000"/>
                </a:solidFill>
                <a:latin typeface="Georgia"/>
                <a:ea typeface="Georgia"/>
                <a:cs typeface="Georgia"/>
                <a:sym typeface="Georgia"/>
              </a:rPr>
              <a:t>•- PCA for 2D visualization</a:t>
            </a:r>
            <a:endParaRPr sz="1816">
              <a:solidFill>
                <a:srgbClr val="000000"/>
              </a:solidFill>
              <a:latin typeface="Georgia"/>
              <a:ea typeface="Georgia"/>
              <a:cs typeface="Georgia"/>
              <a:sym typeface="Georgia"/>
            </a:endParaRPr>
          </a:p>
          <a:p>
            <a:pPr indent="0" lvl="0" marL="0" rtl="0" algn="l">
              <a:lnSpc>
                <a:spcPct val="95000"/>
              </a:lnSpc>
              <a:spcBef>
                <a:spcPts val="800"/>
              </a:spcBef>
              <a:spcAft>
                <a:spcPts val="0"/>
              </a:spcAft>
              <a:buSzPts val="440"/>
              <a:buNone/>
            </a:pPr>
            <a:r>
              <a:rPr lang="en-GB" sz="1816">
                <a:solidFill>
                  <a:srgbClr val="000000"/>
                </a:solidFill>
                <a:latin typeface="Georgia"/>
                <a:ea typeface="Georgia"/>
                <a:cs typeface="Georgia"/>
                <a:sym typeface="Georgia"/>
              </a:rPr>
              <a:t>•Features Used:</a:t>
            </a:r>
            <a:endParaRPr sz="1816">
              <a:solidFill>
                <a:srgbClr val="000000"/>
              </a:solidFill>
              <a:latin typeface="Georgia"/>
              <a:ea typeface="Georgia"/>
              <a:cs typeface="Georgia"/>
              <a:sym typeface="Georgia"/>
            </a:endParaRPr>
          </a:p>
          <a:p>
            <a:pPr indent="0" lvl="0" marL="0" rtl="0" algn="l">
              <a:lnSpc>
                <a:spcPct val="95000"/>
              </a:lnSpc>
              <a:spcBef>
                <a:spcPts val="800"/>
              </a:spcBef>
              <a:spcAft>
                <a:spcPts val="0"/>
              </a:spcAft>
              <a:buSzPts val="440"/>
              <a:buNone/>
            </a:pPr>
            <a:r>
              <a:rPr lang="en-GB" sz="1816">
                <a:solidFill>
                  <a:srgbClr val="000000"/>
                </a:solidFill>
                <a:latin typeface="Georgia"/>
                <a:ea typeface="Georgia"/>
                <a:cs typeface="Georgia"/>
                <a:sym typeface="Georgia"/>
              </a:rPr>
              <a:t>•- Age, Gender, Nationality, Ethnicity, Smoking, Cancer Type, Weight, Height</a:t>
            </a:r>
            <a:endParaRPr sz="1816">
              <a:solidFill>
                <a:srgbClr val="000000"/>
              </a:solidFill>
              <a:latin typeface="Georgia"/>
              <a:ea typeface="Georgia"/>
              <a:cs typeface="Georgia"/>
              <a:sym typeface="Georgia"/>
            </a:endParaRPr>
          </a:p>
          <a:p>
            <a:pPr indent="0" lvl="0" marL="0" rtl="0" algn="l">
              <a:lnSpc>
                <a:spcPct val="95000"/>
              </a:lnSpc>
              <a:spcBef>
                <a:spcPts val="800"/>
              </a:spcBef>
              <a:spcAft>
                <a:spcPts val="0"/>
              </a:spcAft>
              <a:buSzPts val="440"/>
              <a:buNone/>
            </a:pPr>
            <a:r>
              <a:t/>
            </a:r>
            <a:endParaRPr sz="1380">
              <a:solidFill>
                <a:srgbClr val="000000"/>
              </a:solidFill>
              <a:latin typeface="Georgia"/>
              <a:ea typeface="Georgia"/>
              <a:cs typeface="Georgia"/>
              <a:sym typeface="Georgia"/>
            </a:endParaRPr>
          </a:p>
          <a:p>
            <a:pPr indent="0" lvl="0" marL="0" rtl="0" algn="l">
              <a:lnSpc>
                <a:spcPct val="95000"/>
              </a:lnSpc>
              <a:spcBef>
                <a:spcPts val="800"/>
              </a:spcBef>
              <a:spcAft>
                <a:spcPts val="0"/>
              </a:spcAft>
              <a:buSzPts val="440"/>
              <a:buNone/>
            </a:pPr>
            <a:r>
              <a:t/>
            </a:r>
            <a:endParaRPr sz="1380">
              <a:solidFill>
                <a:srgbClr val="000000"/>
              </a:solidFill>
              <a:latin typeface="Georgia"/>
              <a:ea typeface="Georgia"/>
              <a:cs typeface="Georgia"/>
              <a:sym typeface="Georgia"/>
            </a:endParaRPr>
          </a:p>
          <a:p>
            <a:pPr indent="0" lvl="0" marL="0" rtl="0" algn="ctr">
              <a:lnSpc>
                <a:spcPct val="80000"/>
              </a:lnSpc>
              <a:spcBef>
                <a:spcPts val="0"/>
              </a:spcBef>
              <a:spcAft>
                <a:spcPts val="0"/>
              </a:spcAft>
              <a:buSzPts val="440"/>
              <a:buNone/>
            </a:pPr>
            <a:r>
              <a:t/>
            </a:r>
            <a:endParaRPr sz="740">
              <a:latin typeface="Georgia"/>
              <a:ea typeface="Georgia"/>
              <a:cs typeface="Georgia"/>
              <a:sym typeface="Georgia"/>
            </a:endParaRPr>
          </a:p>
        </p:txBody>
      </p:sp>
      <p:sp>
        <p:nvSpPr>
          <p:cNvPr id="171" name="Google Shape;171;p20"/>
          <p:cNvSpPr txBox="1"/>
          <p:nvPr>
            <p:ph idx="1" type="subTitle"/>
          </p:nvPr>
        </p:nvSpPr>
        <p:spPr>
          <a:xfrm>
            <a:off x="4695450" y="798100"/>
            <a:ext cx="3696600" cy="4103700"/>
          </a:xfrm>
          <a:prstGeom prst="rect">
            <a:avLst/>
          </a:prstGeom>
        </p:spPr>
        <p:txBody>
          <a:bodyPr anchorCtr="0" anchor="t" bIns="91425" lIns="91425" spcFirstLastPara="1" rIns="91425" wrap="square" tIns="91425">
            <a:normAutofit fontScale="25000"/>
          </a:bodyPr>
          <a:lstStyle/>
          <a:p>
            <a:pPr indent="0" lvl="0" marL="0" rtl="0" algn="l">
              <a:lnSpc>
                <a:spcPct val="115000"/>
              </a:lnSpc>
              <a:spcBef>
                <a:spcPts val="800"/>
              </a:spcBef>
              <a:spcAft>
                <a:spcPts val="0"/>
              </a:spcAft>
              <a:buNone/>
            </a:pPr>
            <a:r>
              <a:rPr lang="en-GB" sz="8127">
                <a:solidFill>
                  <a:srgbClr val="000000"/>
                </a:solidFill>
                <a:latin typeface="Georgia"/>
                <a:ea typeface="Georgia"/>
                <a:cs typeface="Georgia"/>
                <a:sym typeface="Georgia"/>
              </a:rPr>
              <a:t>•</a:t>
            </a:r>
            <a:r>
              <a:rPr b="1" lang="en-GB" sz="8127">
                <a:solidFill>
                  <a:srgbClr val="000000"/>
                </a:solidFill>
                <a:latin typeface="Georgia"/>
                <a:ea typeface="Georgia"/>
                <a:cs typeface="Georgia"/>
                <a:sym typeface="Georgia"/>
              </a:rPr>
              <a:t>Cluster Insights:</a:t>
            </a:r>
            <a:endParaRPr b="1" sz="8127">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8127">
                <a:solidFill>
                  <a:srgbClr val="000000"/>
                </a:solidFill>
                <a:latin typeface="Georgia"/>
                <a:ea typeface="Georgia"/>
                <a:cs typeface="Georgia"/>
                <a:sym typeface="Georgia"/>
              </a:rPr>
              <a:t>•- Cluster 0: Mostly male, non-smokers</a:t>
            </a:r>
            <a:endParaRPr sz="8127">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8127">
                <a:solidFill>
                  <a:srgbClr val="000000"/>
                </a:solidFill>
                <a:latin typeface="Georgia"/>
                <a:ea typeface="Georgia"/>
                <a:cs typeface="Georgia"/>
                <a:sym typeface="Georgia"/>
              </a:rPr>
              <a:t>•- Cluster 1: Majority female, highest smoking rate</a:t>
            </a:r>
            <a:endParaRPr sz="8127">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8127">
                <a:solidFill>
                  <a:srgbClr val="000000"/>
                </a:solidFill>
                <a:latin typeface="Georgia"/>
                <a:ea typeface="Georgia"/>
                <a:cs typeface="Georgia"/>
                <a:sym typeface="Georgia"/>
              </a:rPr>
              <a:t>•- Cluster 2: Mixed gender, mostly foreign nationals</a:t>
            </a:r>
            <a:endParaRPr sz="8127">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8127">
                <a:solidFill>
                  <a:srgbClr val="000000"/>
                </a:solidFill>
                <a:latin typeface="Georgia"/>
                <a:ea typeface="Georgia"/>
                <a:cs typeface="Georgia"/>
                <a:sym typeface="Georgia"/>
              </a:rPr>
              <a:t>•- Cluster 3: Entirely female, all local nationality</a:t>
            </a:r>
            <a:endParaRPr sz="4292">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t/>
            </a:r>
            <a:endParaRPr sz="3200">
              <a:solidFill>
                <a:srgbClr val="000000"/>
              </a:solidFill>
              <a:latin typeface="Arial"/>
              <a:ea typeface="Arial"/>
              <a:cs typeface="Arial"/>
              <a:sym typeface="Arial"/>
            </a:endParaRPr>
          </a:p>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1"/>
          <p:cNvSpPr txBox="1"/>
          <p:nvPr>
            <p:ph idx="1" type="subTitle"/>
          </p:nvPr>
        </p:nvSpPr>
        <p:spPr>
          <a:xfrm>
            <a:off x="417075" y="1057350"/>
            <a:ext cx="8557500" cy="3028800"/>
          </a:xfrm>
          <a:prstGeom prst="rect">
            <a:avLst/>
          </a:prstGeom>
        </p:spPr>
        <p:txBody>
          <a:bodyPr anchorCtr="0" anchor="t" bIns="91425" lIns="91425" spcFirstLastPara="1" rIns="91425" wrap="square" tIns="91425">
            <a:normAutofit fontScale="25000" lnSpcReduction="20000"/>
          </a:bodyPr>
          <a:lstStyle/>
          <a:p>
            <a:pPr indent="0" lvl="0" marL="0" rtl="0" algn="l">
              <a:lnSpc>
                <a:spcPct val="115000"/>
              </a:lnSpc>
              <a:spcBef>
                <a:spcPts val="800"/>
              </a:spcBef>
              <a:spcAft>
                <a:spcPts val="0"/>
              </a:spcAft>
              <a:buNone/>
            </a:pPr>
            <a:r>
              <a:rPr lang="en-GB" sz="8830">
                <a:solidFill>
                  <a:srgbClr val="000000"/>
                </a:solidFill>
                <a:latin typeface="Georgia"/>
                <a:ea typeface="Georgia"/>
                <a:cs typeface="Georgia"/>
                <a:sym typeface="Georgia"/>
              </a:rPr>
              <a:t>•Languages/Libraries:</a:t>
            </a:r>
            <a:endParaRPr sz="883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8830">
                <a:solidFill>
                  <a:srgbClr val="000000"/>
                </a:solidFill>
                <a:latin typeface="Georgia"/>
                <a:ea typeface="Georgia"/>
                <a:cs typeface="Georgia"/>
                <a:sym typeface="Georgia"/>
              </a:rPr>
              <a:t>•- Python, pandas, numpy, seaborn, scikit-learn</a:t>
            </a:r>
            <a:endParaRPr sz="883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8830">
                <a:solidFill>
                  <a:srgbClr val="000000"/>
                </a:solidFill>
                <a:latin typeface="Georgia"/>
                <a:ea typeface="Georgia"/>
                <a:cs typeface="Georgia"/>
                <a:sym typeface="Georgia"/>
              </a:rPr>
              <a:t>•- XGBoost, imbalanced-learn (SMOTE), PCA</a:t>
            </a:r>
            <a:endParaRPr sz="883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8830">
                <a:solidFill>
                  <a:srgbClr val="000000"/>
                </a:solidFill>
                <a:latin typeface="Georgia"/>
                <a:ea typeface="Georgia"/>
                <a:cs typeface="Georgia"/>
                <a:sym typeface="Georgia"/>
              </a:rPr>
              <a:t>•Deliverables:</a:t>
            </a:r>
            <a:endParaRPr sz="883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8830">
                <a:solidFill>
                  <a:srgbClr val="000000"/>
                </a:solidFill>
                <a:latin typeface="Georgia"/>
                <a:ea typeface="Georgia"/>
                <a:cs typeface="Georgia"/>
                <a:sym typeface="Georgia"/>
              </a:rPr>
              <a:t>•- EDA0.ipynb, cancer_modeling.ipynb</a:t>
            </a:r>
            <a:endParaRPr sz="883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8830">
                <a:solidFill>
                  <a:srgbClr val="000000"/>
                </a:solidFill>
                <a:latin typeface="Georgia"/>
                <a:ea typeface="Georgia"/>
                <a:cs typeface="Georgia"/>
                <a:sym typeface="Georgia"/>
              </a:rPr>
              <a:t>•- Cluster visualizations</a:t>
            </a:r>
            <a:endParaRPr sz="883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rPr lang="en-GB" sz="8830">
                <a:solidFill>
                  <a:srgbClr val="000000"/>
                </a:solidFill>
                <a:latin typeface="Georgia"/>
                <a:ea typeface="Georgia"/>
                <a:cs typeface="Georgia"/>
                <a:sym typeface="Georgia"/>
              </a:rPr>
              <a:t>•- GitHub repo</a:t>
            </a:r>
            <a:endParaRPr sz="8830">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t/>
            </a:r>
            <a:endParaRPr sz="4292">
              <a:solidFill>
                <a:srgbClr val="000000"/>
              </a:solidFill>
              <a:latin typeface="Georgia"/>
              <a:ea typeface="Georgia"/>
              <a:cs typeface="Georgia"/>
              <a:sym typeface="Georgia"/>
            </a:endParaRPr>
          </a:p>
          <a:p>
            <a:pPr indent="0" lvl="0" marL="0" rtl="0" algn="l">
              <a:lnSpc>
                <a:spcPct val="115000"/>
              </a:lnSpc>
              <a:spcBef>
                <a:spcPts val="800"/>
              </a:spcBef>
              <a:spcAft>
                <a:spcPts val="0"/>
              </a:spcAft>
              <a:buNone/>
            </a:pPr>
            <a:r>
              <a:t/>
            </a:r>
            <a:endParaRPr sz="3200">
              <a:solidFill>
                <a:srgbClr val="000000"/>
              </a:solidFill>
            </a:endParaRPr>
          </a:p>
          <a:p>
            <a:pPr indent="0" lvl="0" marL="0" rtl="0" algn="l">
              <a:lnSpc>
                <a:spcPct val="115000"/>
              </a:lnSpc>
              <a:spcBef>
                <a:spcPts val="800"/>
              </a:spcBef>
              <a:spcAft>
                <a:spcPts val="0"/>
              </a:spcAft>
              <a:buNone/>
            </a:pPr>
            <a:r>
              <a:t/>
            </a:r>
            <a:endParaRPr sz="3200">
              <a:solidFill>
                <a:srgbClr val="000000"/>
              </a:solidFill>
              <a:latin typeface="Arial"/>
              <a:ea typeface="Arial"/>
              <a:cs typeface="Arial"/>
              <a:sym typeface="Arial"/>
            </a:endParaRPr>
          </a:p>
          <a:p>
            <a:pPr indent="0" lvl="0" marL="0" rtl="0" algn="ctr">
              <a:spcBef>
                <a:spcPts val="0"/>
              </a:spcBef>
              <a:spcAft>
                <a:spcPts val="0"/>
              </a:spcAft>
              <a:buNone/>
            </a:pPr>
            <a:r>
              <a:t/>
            </a:r>
            <a:endParaRPr/>
          </a:p>
        </p:txBody>
      </p:sp>
      <p:sp>
        <p:nvSpPr>
          <p:cNvPr id="177" name="Google Shape;177;p21"/>
          <p:cNvSpPr txBox="1"/>
          <p:nvPr>
            <p:ph idx="1" type="subTitle"/>
          </p:nvPr>
        </p:nvSpPr>
        <p:spPr>
          <a:xfrm>
            <a:off x="2259750" y="248700"/>
            <a:ext cx="4962600" cy="7029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GB" sz="4400">
                <a:solidFill>
                  <a:srgbClr val="000000"/>
                </a:solidFill>
              </a:rPr>
              <a:t>Tools &amp; Deliverables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ph idx="1" type="subTitle"/>
          </p:nvPr>
        </p:nvSpPr>
        <p:spPr>
          <a:xfrm>
            <a:off x="371875" y="638250"/>
            <a:ext cx="8512200" cy="4286100"/>
          </a:xfrm>
          <a:prstGeom prst="rect">
            <a:avLst/>
          </a:prstGeom>
        </p:spPr>
        <p:txBody>
          <a:bodyPr anchorCtr="0" anchor="t" bIns="91425" lIns="91425" spcFirstLastPara="1" rIns="91425" wrap="square" tIns="91425">
            <a:normAutofit fontScale="25000" lnSpcReduction="10000"/>
          </a:bodyPr>
          <a:lstStyle/>
          <a:p>
            <a:pPr indent="0" lvl="0" marL="0" rtl="0" algn="l">
              <a:lnSpc>
                <a:spcPct val="115000"/>
              </a:lnSpc>
              <a:spcBef>
                <a:spcPts val="1400"/>
              </a:spcBef>
              <a:spcAft>
                <a:spcPts val="0"/>
              </a:spcAft>
              <a:buNone/>
            </a:pPr>
            <a:r>
              <a:rPr b="1" lang="en-GB" sz="4700">
                <a:solidFill>
                  <a:srgbClr val="000000"/>
                </a:solidFill>
                <a:latin typeface="Georgia"/>
                <a:ea typeface="Georgia"/>
                <a:cs typeface="Georgia"/>
                <a:sym typeface="Georgia"/>
              </a:rPr>
              <a:t>🔍 Findings</a:t>
            </a:r>
            <a:endParaRPr b="1" sz="4700">
              <a:solidFill>
                <a:srgbClr val="000000"/>
              </a:solidFill>
              <a:latin typeface="Georgia"/>
              <a:ea typeface="Georgia"/>
              <a:cs typeface="Georgia"/>
              <a:sym typeface="Georgia"/>
            </a:endParaRPr>
          </a:p>
          <a:p>
            <a:pPr indent="0" lvl="0" marL="0" rtl="0" algn="l">
              <a:lnSpc>
                <a:spcPct val="115000"/>
              </a:lnSpc>
              <a:spcBef>
                <a:spcPts val="1200"/>
              </a:spcBef>
              <a:spcAft>
                <a:spcPts val="0"/>
              </a:spcAft>
              <a:buNone/>
            </a:pPr>
            <a:r>
              <a:rPr lang="en-GB" sz="4700">
                <a:solidFill>
                  <a:srgbClr val="000000"/>
                </a:solidFill>
                <a:latin typeface="Georgia"/>
                <a:ea typeface="Georgia"/>
                <a:cs typeface="Georgia"/>
                <a:sym typeface="Georgia"/>
              </a:rPr>
              <a:t>Exploratory analysis revealed that recovery rates vary by year, cancer type, and smoking status, with smokers experiencing notably lower recovery. Predictive models struggled to accurately classify late-stage cancer, with the best model achieving only 32% accuracy. Clustering uncovered four distinct patient groups characterized by gender, smoking habits, and nationality, suggesting diverse treatment needs.</a:t>
            </a:r>
            <a:endParaRPr b="1" sz="4700">
              <a:solidFill>
                <a:srgbClr val="000000"/>
              </a:solidFill>
              <a:latin typeface="Georgia"/>
              <a:ea typeface="Georgia"/>
              <a:cs typeface="Georgia"/>
              <a:sym typeface="Georgia"/>
            </a:endParaRPr>
          </a:p>
          <a:p>
            <a:pPr indent="0" lvl="0" marL="0" rtl="0" algn="l">
              <a:lnSpc>
                <a:spcPct val="115000"/>
              </a:lnSpc>
              <a:spcBef>
                <a:spcPts val="1800"/>
              </a:spcBef>
              <a:spcAft>
                <a:spcPts val="0"/>
              </a:spcAft>
              <a:buNone/>
            </a:pPr>
            <a:r>
              <a:rPr b="1" lang="en-GB" sz="4700">
                <a:solidFill>
                  <a:srgbClr val="000000"/>
                </a:solidFill>
                <a:latin typeface="Georgia"/>
                <a:ea typeface="Georgia"/>
                <a:cs typeface="Georgia"/>
                <a:sym typeface="Georgia"/>
              </a:rPr>
              <a:t>🧾 Summary</a:t>
            </a:r>
            <a:endParaRPr b="1" sz="4700">
              <a:solidFill>
                <a:srgbClr val="000000"/>
              </a:solidFill>
              <a:latin typeface="Georgia"/>
              <a:ea typeface="Georgia"/>
              <a:cs typeface="Georgia"/>
              <a:sym typeface="Georgia"/>
            </a:endParaRPr>
          </a:p>
          <a:p>
            <a:pPr indent="0" lvl="0" marL="0" rtl="0" algn="l">
              <a:lnSpc>
                <a:spcPct val="115000"/>
              </a:lnSpc>
              <a:spcBef>
                <a:spcPts val="1200"/>
              </a:spcBef>
              <a:spcAft>
                <a:spcPts val="0"/>
              </a:spcAft>
              <a:buNone/>
            </a:pPr>
            <a:r>
              <a:rPr lang="en-GB" sz="4700">
                <a:solidFill>
                  <a:srgbClr val="000000"/>
                </a:solidFill>
                <a:latin typeface="Georgia"/>
                <a:ea typeface="Georgia"/>
                <a:cs typeface="Georgia"/>
                <a:sym typeface="Georgia"/>
              </a:rPr>
              <a:t>This machine learning project aimed to support early diagnosis, stage classification, and treatment personalization for cancer patients in the UAE. Through EDA, we discovered key trends in recovery based on demographics and lifestyle. Predictive modeling revealed the difficulty in classifying late-stage cancer due to class imbalance and feature limitations. Clustering uncovered distinct patient subgroups that could benefit from tailored care approaches.</a:t>
            </a:r>
            <a:endParaRPr sz="4700">
              <a:solidFill>
                <a:srgbClr val="000000"/>
              </a:solidFill>
              <a:latin typeface="Georgia"/>
              <a:ea typeface="Georgia"/>
              <a:cs typeface="Georgia"/>
              <a:sym typeface="Georgia"/>
            </a:endParaRPr>
          </a:p>
          <a:p>
            <a:pPr indent="0" lvl="0" marL="0" rtl="0" algn="l">
              <a:lnSpc>
                <a:spcPct val="115000"/>
              </a:lnSpc>
              <a:spcBef>
                <a:spcPts val="1400"/>
              </a:spcBef>
              <a:spcAft>
                <a:spcPts val="0"/>
              </a:spcAft>
              <a:buNone/>
            </a:pPr>
            <a:r>
              <a:rPr b="1" lang="en-GB" sz="4700">
                <a:solidFill>
                  <a:srgbClr val="000000"/>
                </a:solidFill>
                <a:latin typeface="Georgia"/>
                <a:ea typeface="Georgia"/>
                <a:cs typeface="Georgia"/>
                <a:sym typeface="Georgia"/>
              </a:rPr>
              <a:t>✅ Recommendations</a:t>
            </a:r>
            <a:endParaRPr b="1" sz="4700">
              <a:solidFill>
                <a:srgbClr val="000000"/>
              </a:solidFill>
              <a:latin typeface="Georgia"/>
              <a:ea typeface="Georgia"/>
              <a:cs typeface="Georgia"/>
              <a:sym typeface="Georgia"/>
            </a:endParaRPr>
          </a:p>
          <a:p>
            <a:pPr indent="0" lvl="0" marL="0" rtl="0" algn="l">
              <a:lnSpc>
                <a:spcPct val="115000"/>
              </a:lnSpc>
              <a:spcBef>
                <a:spcPts val="1200"/>
              </a:spcBef>
              <a:spcAft>
                <a:spcPts val="0"/>
              </a:spcAft>
              <a:buNone/>
            </a:pPr>
            <a:r>
              <a:rPr lang="en-GB" sz="4700">
                <a:solidFill>
                  <a:srgbClr val="000000"/>
                </a:solidFill>
                <a:latin typeface="Georgia"/>
                <a:ea typeface="Georgia"/>
                <a:cs typeface="Georgia"/>
                <a:sym typeface="Georgia"/>
              </a:rPr>
              <a:t>To improve outcomes, healthcare providers should prioritize early screening and develop targeted smoking cessation initiatives for high-risk groups. More balanced datasets and additional medical features are needed to enhance model performance and reliability. Policymakers should use patient clusters to guide personalized treatment plans and public health outreach.</a:t>
            </a:r>
            <a:endParaRPr sz="4700">
              <a:solidFill>
                <a:srgbClr val="000000"/>
              </a:solidFill>
              <a:latin typeface="Georgia"/>
              <a:ea typeface="Georgia"/>
              <a:cs typeface="Georgia"/>
              <a:sym typeface="Georgia"/>
            </a:endParaRPr>
          </a:p>
          <a:p>
            <a:pPr indent="0" lvl="0" marL="0" rtl="0" algn="l">
              <a:lnSpc>
                <a:spcPct val="115000"/>
              </a:lnSpc>
              <a:spcBef>
                <a:spcPts val="1200"/>
              </a:spcBef>
              <a:spcAft>
                <a:spcPts val="0"/>
              </a:spcAft>
              <a:buNone/>
            </a:pPr>
            <a:r>
              <a:t/>
            </a:r>
            <a:endParaRPr sz="3200">
              <a:solidFill>
                <a:srgbClr val="000000"/>
              </a:solidFill>
              <a:latin typeface="Arial"/>
              <a:ea typeface="Arial"/>
              <a:cs typeface="Arial"/>
              <a:sym typeface="Arial"/>
            </a:endParaRPr>
          </a:p>
          <a:p>
            <a:pPr indent="0" lvl="0" marL="0" rtl="0" algn="ctr">
              <a:spcBef>
                <a:spcPts val="0"/>
              </a:spcBef>
              <a:spcAft>
                <a:spcPts val="0"/>
              </a:spcAft>
              <a:buNone/>
            </a:pPr>
            <a:r>
              <a:t/>
            </a:r>
            <a:endParaRPr/>
          </a:p>
        </p:txBody>
      </p:sp>
      <p:sp>
        <p:nvSpPr>
          <p:cNvPr id="183" name="Google Shape;183;p22"/>
          <p:cNvSpPr txBox="1"/>
          <p:nvPr>
            <p:ph idx="1" type="subTitle"/>
          </p:nvPr>
        </p:nvSpPr>
        <p:spPr>
          <a:xfrm>
            <a:off x="2259750" y="248700"/>
            <a:ext cx="5233800" cy="389700"/>
          </a:xfrm>
          <a:prstGeom prst="rect">
            <a:avLst/>
          </a:prstGeom>
        </p:spPr>
        <p:txBody>
          <a:bodyPr anchorCtr="0" anchor="t" bIns="91425" lIns="91425" spcFirstLastPara="1" rIns="91425" wrap="square" tIns="91425">
            <a:noAutofit/>
          </a:bodyPr>
          <a:lstStyle/>
          <a:p>
            <a:pPr indent="0" lvl="0" marL="0" rtl="0" algn="ctr">
              <a:lnSpc>
                <a:spcPct val="90000"/>
              </a:lnSpc>
              <a:spcBef>
                <a:spcPts val="0"/>
              </a:spcBef>
              <a:spcAft>
                <a:spcPts val="0"/>
              </a:spcAft>
              <a:buSzPts val="358"/>
              <a:buNone/>
            </a:pPr>
            <a:r>
              <a:rPr b="1" lang="en-GB" sz="1729">
                <a:solidFill>
                  <a:srgbClr val="000000"/>
                </a:solidFill>
                <a:latin typeface="Georgia"/>
                <a:ea typeface="Georgia"/>
                <a:cs typeface="Georgia"/>
                <a:sym typeface="Georgia"/>
              </a:rPr>
              <a:t>Findings, Summaries &amp; Recommendations</a:t>
            </a:r>
            <a:endParaRPr b="1" sz="820">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187" name="Shape 187"/>
        <p:cNvGrpSpPr/>
        <p:nvPr/>
      </p:nvGrpSpPr>
      <p:grpSpPr>
        <a:xfrm>
          <a:off x="0" y="0"/>
          <a:ext cx="0" cy="0"/>
          <a:chOff x="0" y="0"/>
          <a:chExt cx="0" cy="0"/>
        </a:xfrm>
      </p:grpSpPr>
      <p:sp>
        <p:nvSpPr>
          <p:cNvPr id="188" name="Google Shape;188;p23"/>
          <p:cNvSpPr txBox="1"/>
          <p:nvPr>
            <p:ph idx="1" type="subTitle"/>
          </p:nvPr>
        </p:nvSpPr>
        <p:spPr>
          <a:xfrm>
            <a:off x="1751050" y="1508700"/>
            <a:ext cx="5867100" cy="2872800"/>
          </a:xfrm>
          <a:prstGeom prst="rect">
            <a:avLst/>
          </a:prstGeom>
        </p:spPr>
        <p:txBody>
          <a:bodyPr anchorCtr="0" anchor="t" bIns="91425" lIns="91425" spcFirstLastPara="1" rIns="91425" wrap="square" tIns="91425">
            <a:normAutofit fontScale="92500"/>
          </a:bodyPr>
          <a:lstStyle/>
          <a:p>
            <a:pPr indent="0" lvl="0" marL="0" rtl="0" algn="l">
              <a:lnSpc>
                <a:spcPct val="115000"/>
              </a:lnSpc>
              <a:spcBef>
                <a:spcPts val="1200"/>
              </a:spcBef>
              <a:spcAft>
                <a:spcPts val="0"/>
              </a:spcAft>
              <a:buNone/>
            </a:pPr>
            <a:r>
              <a:rPr b="1" lang="en-GB" sz="9816">
                <a:solidFill>
                  <a:srgbClr val="0000FF"/>
                </a:solidFill>
                <a:latin typeface="Pacifico"/>
                <a:ea typeface="Pacifico"/>
                <a:cs typeface="Pacifico"/>
                <a:sym typeface="Pacifico"/>
              </a:rPr>
              <a:t>Thank you!</a:t>
            </a:r>
            <a:endParaRPr sz="9816">
              <a:solidFill>
                <a:srgbClr val="0000FF"/>
              </a:solidFill>
              <a:latin typeface="Pacifico"/>
              <a:ea typeface="Pacifico"/>
              <a:cs typeface="Pacifico"/>
              <a:sym typeface="Pacifico"/>
            </a:endParaRPr>
          </a:p>
          <a:p>
            <a:pPr indent="0" lvl="0" marL="0" rtl="0" algn="l">
              <a:lnSpc>
                <a:spcPct val="115000"/>
              </a:lnSpc>
              <a:spcBef>
                <a:spcPts val="1200"/>
              </a:spcBef>
              <a:spcAft>
                <a:spcPts val="0"/>
              </a:spcAft>
              <a:buNone/>
            </a:pPr>
            <a:r>
              <a:t/>
            </a:r>
            <a:endParaRPr sz="3200">
              <a:solidFill>
                <a:srgbClr val="000000"/>
              </a:solidFill>
              <a:latin typeface="Arial"/>
              <a:ea typeface="Arial"/>
              <a:cs typeface="Arial"/>
              <a:sym typeface="Arial"/>
            </a:endParaRPr>
          </a:p>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